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0" r:id="rId3"/>
    <p:sldId id="290" r:id="rId4"/>
    <p:sldId id="276" r:id="rId5"/>
    <p:sldId id="29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6" r:id="rId14"/>
    <p:sldId id="293" r:id="rId15"/>
    <p:sldId id="292" r:id="rId16"/>
    <p:sldId id="287" r:id="rId17"/>
    <p:sldId id="289" r:id="rId18"/>
    <p:sldId id="275" r:id="rId19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82FD0-C91E-4E1E-B0F4-68296FF2DD65}" v="6" dt="2026-08-18T03:56:35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G" userId="392012bb63ecdd69" providerId="LiveId" clId="{B39F6524-5F57-481E-BDAF-6E770C0FC041}"/>
    <pc:docChg chg="undo custSel modSld">
      <pc:chgData name="Ashish G" userId="392012bb63ecdd69" providerId="LiveId" clId="{B39F6524-5F57-481E-BDAF-6E770C0FC041}" dt="2026-08-18T03:56:36.143" v="16" actId="14100"/>
      <pc:docMkLst>
        <pc:docMk/>
      </pc:docMkLst>
      <pc:sldChg chg="addSp modSp mod">
        <pc:chgData name="Ashish G" userId="392012bb63ecdd69" providerId="LiveId" clId="{B39F6524-5F57-481E-BDAF-6E770C0FC041}" dt="2026-08-18T03:56:36.143" v="16" actId="14100"/>
        <pc:sldMkLst>
          <pc:docMk/>
          <pc:sldMk cId="2157779332" sldId="270"/>
        </pc:sldMkLst>
        <pc:spChg chg="mod">
          <ac:chgData name="Ashish G" userId="392012bb63ecdd69" providerId="LiveId" clId="{B39F6524-5F57-481E-BDAF-6E770C0FC041}" dt="2026-08-18T03:56:34.788" v="14" actId="14100"/>
          <ac:spMkLst>
            <pc:docMk/>
            <pc:sldMk cId="2157779332" sldId="270"/>
            <ac:spMk id="3" creationId="{00000000-0000-0000-0000-000000000000}"/>
          </ac:spMkLst>
        </pc:spChg>
        <pc:spChg chg="mod">
          <ac:chgData name="Ashish G" userId="392012bb63ecdd69" providerId="LiveId" clId="{B39F6524-5F57-481E-BDAF-6E770C0FC041}" dt="2026-08-18T03:56:36.143" v="16" actId="14100"/>
          <ac:spMkLst>
            <pc:docMk/>
            <pc:sldMk cId="2157779332" sldId="270"/>
            <ac:spMk id="7" creationId="{00000000-0000-0000-0000-000000000000}"/>
          </ac:spMkLst>
        </pc:spChg>
        <pc:spChg chg="mod">
          <ac:chgData name="Ashish G" userId="392012bb63ecdd69" providerId="LiveId" clId="{B39F6524-5F57-481E-BDAF-6E770C0FC041}" dt="2026-08-18T03:56:34.566" v="13" actId="1076"/>
          <ac:spMkLst>
            <pc:docMk/>
            <pc:sldMk cId="2157779332" sldId="270"/>
            <ac:spMk id="8" creationId="{00000000-0000-0000-0000-000000000000}"/>
          </ac:spMkLst>
        </pc:spChg>
        <pc:spChg chg="add mod">
          <ac:chgData name="Ashish G" userId="392012bb63ecdd69" providerId="LiveId" clId="{B39F6524-5F57-481E-BDAF-6E770C0FC041}" dt="2026-08-18T03:56:34.050" v="12" actId="767"/>
          <ac:spMkLst>
            <pc:docMk/>
            <pc:sldMk cId="2157779332" sldId="270"/>
            <ac:spMk id="12" creationId="{900D549A-1FFB-BF8C-C180-6F1BBEE5B3E4}"/>
          </ac:spMkLst>
        </pc:spChg>
      </pc:sldChg>
      <pc:sldChg chg="addSp delSp modSp mod">
        <pc:chgData name="Ashish G" userId="392012bb63ecdd69" providerId="LiveId" clId="{B39F6524-5F57-481E-BDAF-6E770C0FC041}" dt="2026-08-18T03:54:24.602" v="5" actId="20577"/>
        <pc:sldMkLst>
          <pc:docMk/>
          <pc:sldMk cId="1420419302" sldId="278"/>
        </pc:sldMkLst>
        <pc:spChg chg="add del mod">
          <ac:chgData name="Ashish G" userId="392012bb63ecdd69" providerId="LiveId" clId="{B39F6524-5F57-481E-BDAF-6E770C0FC041}" dt="2026-08-18T03:54:13.483" v="3"/>
          <ac:spMkLst>
            <pc:docMk/>
            <pc:sldMk cId="1420419302" sldId="278"/>
            <ac:spMk id="5" creationId="{FC6C901C-3755-C59A-D3BA-5CC193B96623}"/>
          </ac:spMkLst>
        </pc:spChg>
        <pc:spChg chg="add mod">
          <ac:chgData name="Ashish G" userId="392012bb63ecdd69" providerId="LiveId" clId="{B39F6524-5F57-481E-BDAF-6E770C0FC041}" dt="2026-08-18T03:54:24.602" v="5" actId="20577"/>
          <ac:spMkLst>
            <pc:docMk/>
            <pc:sldMk cId="1420419302" sldId="278"/>
            <ac:spMk id="19" creationId="{9267B3D3-3CD6-5162-350D-A101BF8A42D8}"/>
          </ac:spMkLst>
        </pc:spChg>
      </pc:sldChg>
      <pc:sldChg chg="modSp mod">
        <pc:chgData name="Ashish G" userId="392012bb63ecdd69" providerId="LiveId" clId="{B39F6524-5F57-481E-BDAF-6E770C0FC041}" dt="2026-08-18T03:54:01.866" v="1" actId="27636"/>
        <pc:sldMkLst>
          <pc:docMk/>
          <pc:sldMk cId="2356839126" sldId="293"/>
        </pc:sldMkLst>
        <pc:spChg chg="mod">
          <ac:chgData name="Ashish G" userId="392012bb63ecdd69" providerId="LiveId" clId="{B39F6524-5F57-481E-BDAF-6E770C0FC041}" dt="2026-08-18T03:54:01.866" v="1" actId="27636"/>
          <ac:spMkLst>
            <pc:docMk/>
            <pc:sldMk cId="2356839126" sldId="29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21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21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88C3C24-7588-4F88-8CBC-48787B3CCB0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31600"/>
            <a:ext cx="2945659" cy="49821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31600"/>
            <a:ext cx="2945659" cy="49821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866F6364-FC38-44D2-8AF2-67F4A19AF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47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8551104-E7CB-4F4F-9AB2-5E187E357CA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31599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3CF50FB-4805-4181-8201-033B4DE1A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15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6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7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49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20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65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72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8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34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75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78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05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56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04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99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17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22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59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1E72-8E7E-432C-81F1-3C56E8E0A19C}" type="datetime1">
              <a:rPr lang="en-US" smtClean="0"/>
              <a:t>8/18/2026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001E-140B-4FCD-B8A9-813B90823C1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35AB-4513-43F3-9C06-C63638881703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91E1-1757-4926-B7CC-97148996E64C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884E-826D-4E37-BAA9-FA5C6550F8A2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B1A1E-4B6D-4448-8F57-C311C2B4FB06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A9FC-9262-46CA-97ED-E780013DA1ED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F58B-FD74-4DD5-A778-06CBB9AC06EF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CB38-A8D8-43B0-BE29-7BB9B1B20129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B98B-ED11-47DC-8E60-C60B9132757F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49B-6570-45CF-9835-E1B3D5B7E04A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D170EBA-9FB2-4389-9EA7-B02A15CFBCE5}" type="datetime1">
              <a:rPr lang="en-US" smtClean="0"/>
              <a:t>8/18/2026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Dept. of ISE, SCEM, Mangaluru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25681"/>
            <a:ext cx="7543800" cy="615389"/>
          </a:xfrm>
        </p:spPr>
        <p:txBody>
          <a:bodyPr anchor="ctr">
            <a:normAutofit fontScale="90000"/>
          </a:bodyPr>
          <a:lstStyle/>
          <a:p>
            <a:pPr algn="ctr">
              <a:defRPr sz="3600" b="1">
                <a:solidFill>
                  <a:srgbClr val="5A1E14"/>
                </a:solidFill>
                <a:latin typeface="Calibri"/>
              </a:defRPr>
            </a:pPr>
            <a:r>
              <a:t>HridayaDarpana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2563EB"/>
                </a:solidFill>
                <a:latin typeface="Calibri"/>
              </a:defRPr>
            </a:pPr>
            <a:r>
              <a:t>AI-Powered Cardiovascular Disease Prediction and Prevention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1524000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STUDENT_1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STUDENT_2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STUDENT_3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STUDENT_4			USN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9745" y="2764958"/>
            <a:ext cx="55764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Faculty Name</a:t>
            </a:r>
          </a:p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Professor/Assoc. Prof./Asst.Prof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Department of Information Science &amp; Engineering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</a:p>
          <a:p>
            <a:pPr algn="ctr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</a:p>
          <a:p>
            <a:pPr algn="ctr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SAHYADRI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College of Engineering &amp; Management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An Autonomous Institution</a:t>
            </a:r>
          </a:p>
          <a:p>
            <a:pPr algn="ctr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Mangaluru – 575007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6A936B-C502-4BFC-96BF-FAE07ECA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59" y="4459259"/>
            <a:ext cx="10969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1"/>
            <a:ext cx="7498080" cy="4419600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97000" y="635000"/>
            <a:ext cx="7493000" cy="304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Clinical Context: Early Identification &amp;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1016000"/>
            <a:ext cx="2413000" cy="36195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991B1B"/>
                </a:solidFill>
                <a:latin typeface="Calibri"/>
              </a:defRPr>
            </a:pPr>
            <a:r>
              <a:t>1. Fragmented Health Data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Disparate Silos: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vitals exist across unconnected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7000" y="1016000"/>
            <a:ext cx="2413000" cy="3619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92400E"/>
                </a:solidFill>
                <a:latin typeface="Calibri"/>
              </a:defRPr>
            </a:pPr>
            <a:r>
              <a:t>2. 'Black-Box' AI Limitations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Opaque Predictions: </a:t>
            </a:r>
            <a:r>
              <a:rPr sz="850" b="0">
                <a:solidFill>
                  <a:srgbClr val="475569"/>
                </a:solidFill>
                <a:latin typeface="Calibri"/>
              </a:rPr>
              <a:t>Standard ML models output raw risk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7000" y="1016000"/>
            <a:ext cx="2413000" cy="36195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581C87"/>
                </a:solidFill>
                <a:latin typeface="Calibri"/>
              </a:defRPr>
            </a:pPr>
            <a:r>
              <a:t>3. Disconnected Care Delivery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Lack of Engagement: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Patients struggle to comprehend clinical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4762500"/>
            <a:ext cx="7493000" cy="12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The HridayaDarpana Unified Solution Architecture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Holistic AI Pipeline: </a:t>
            </a:r>
            <a:r>
              <a:rPr sz="850" b="0">
                <a:solidFill>
                  <a:srgbClr val="475569"/>
                </a:solidFill>
                <a:latin typeface="Calibri"/>
              </a:rPr>
              <a:t>Multi-model ML ensembles with SHAP.</a:t>
            </a:r>
          </a:p>
        </p:txBody>
      </p:sp>
    </p:spTree>
    <p:extLst>
      <p:ext uri="{BB962C8B-B14F-4D97-AF65-F5344CB8AC3E}">
        <p14:creationId xmlns:p14="http://schemas.microsoft.com/office/powerpoint/2010/main" val="215777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1"/>
            <a:ext cx="7498080" cy="4419600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5549CB6-A4C9-4833-9D1C-DD3D6E1F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Project Objectives &amp; Technical Deliverables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65200"/>
            <a:ext cx="3683000" cy="965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1. Objective 1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965200"/>
            <a:ext cx="3683000" cy="965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4532D"/>
                </a:solidFill>
                <a:latin typeface="Calibri"/>
              </a:defRPr>
            </a:pPr>
            <a:r>
              <a:t>6. Objective 6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2006600"/>
            <a:ext cx="3683000" cy="965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2. Objective 2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7000" y="2006600"/>
            <a:ext cx="3683000" cy="965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4532D"/>
                </a:solidFill>
                <a:latin typeface="Calibri"/>
              </a:defRPr>
            </a:pPr>
            <a:r>
              <a:t>7. Objective 7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3048000"/>
            <a:ext cx="3683000" cy="965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3. Objective 3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7000" y="3048000"/>
            <a:ext cx="3683000" cy="965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4532D"/>
                </a:solidFill>
                <a:latin typeface="Calibri"/>
              </a:defRPr>
            </a:pPr>
            <a:r>
              <a:t>8. Objective 8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7000" y="4089400"/>
            <a:ext cx="3683000" cy="965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4. Objective 4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7000" y="4089400"/>
            <a:ext cx="3683000" cy="965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4532D"/>
                </a:solidFill>
                <a:latin typeface="Calibri"/>
              </a:defRPr>
            </a:pPr>
            <a:r>
              <a:t>9. Objective 9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7000" y="5130800"/>
            <a:ext cx="3683000" cy="965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5. Objective 5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000" y="5130800"/>
            <a:ext cx="3683000" cy="965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4532D"/>
                </a:solidFill>
                <a:latin typeface="Calibri"/>
              </a:defRPr>
            </a:pPr>
            <a:r>
              <a:t>10. Objective 10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Objective: </a:t>
            </a:r>
            <a:r>
              <a:rPr sz="850" b="0">
                <a:solidFill>
                  <a:srgbClr val="475569"/>
                </a:solidFill>
                <a:latin typeface="Calibri"/>
              </a:rPr>
              <a:t>Technical delivery description for milestone 10</a:t>
            </a:r>
          </a:p>
        </p:txBody>
      </p:sp>
    </p:spTree>
    <p:extLst>
      <p:ext uri="{BB962C8B-B14F-4D97-AF65-F5344CB8AC3E}">
        <p14:creationId xmlns:p14="http://schemas.microsoft.com/office/powerpoint/2010/main" val="225391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1F9E18-CCD4-42ED-A5EC-D02BB599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5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USERS LAYER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Actors: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/ End User | Doctor | Admin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43500" y="1143000"/>
            <a:ext cx="0" cy="1016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97000" y="1244600"/>
            <a:ext cx="7493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PRESENTATION LAYER — REACT 19 + TYPESCRIPT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UI Modules: </a:t>
            </a:r>
            <a:r>
              <a:rPr sz="850" b="0">
                <a:solidFill>
                  <a:srgbClr val="475569"/>
                </a:solidFill>
                <a:latin typeface="Calibri"/>
              </a:rPr>
              <a:t>Dynamic Risk Gauges • 3D Heart Digital Twin • Live ECG Waveform • SHAP Visualizer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43500" y="2311400"/>
            <a:ext cx="0" cy="1016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97000" y="2413000"/>
            <a:ext cx="74930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API GATEWAY &amp; APPLICATION SERVER — NODE.JS + EXPRESS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Services: </a:t>
            </a:r>
            <a:r>
              <a:rPr sz="850" b="0">
                <a:solidFill>
                  <a:srgbClr val="475569"/>
                </a:solidFill>
                <a:latin typeface="Calibri"/>
              </a:rPr>
              <a:t>JWT Auth, REST Endpoints, WebSocket Telemetry, Fallback 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02000" y="3225800"/>
            <a:ext cx="0" cy="1270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85000" y="3225800"/>
            <a:ext cx="0" cy="1270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97000" y="3352800"/>
            <a:ext cx="4699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AI ML MICROSERVICE — FASTAPI + PYTHON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Ensembles: </a:t>
            </a:r>
            <a:r>
              <a:rPr sz="850" b="0">
                <a:solidFill>
                  <a:srgbClr val="475569"/>
                </a:solidFill>
                <a:latin typeface="Calibri"/>
              </a:rPr>
              <a:t>LightGBM, XGBoost, CatBoost, Random Forest, SHAP TreeExplainer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0" y="3352800"/>
            <a:ext cx="2667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EXTERNAL CLOUD SERVICES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Services: </a:t>
            </a:r>
            <a:r>
              <a:rPr sz="850" b="0">
                <a:solidFill>
                  <a:srgbClr val="475569"/>
                </a:solidFill>
                <a:latin typeface="Calibri"/>
              </a:rPr>
              <a:t>Google Gemini API, Google Maps &amp; Places API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02000" y="4775200"/>
            <a:ext cx="0" cy="1016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85000" y="4775200"/>
            <a:ext cx="0" cy="10160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97000" y="4876800"/>
            <a:ext cx="7493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DATA PERSISTENCE LAYER — POSTGRESQL + PGVECTOR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Storage: </a:t>
            </a:r>
            <a:r>
              <a:rPr sz="850" b="0">
                <a:solidFill>
                  <a:srgbClr val="475569"/>
                </a:solidFill>
                <a:latin typeface="Calibri"/>
              </a:rPr>
              <a:t>EHR Records, Vitals, Predictions, SHAP Factors, RAG Vectors</a:t>
            </a:r>
          </a:p>
        </p:txBody>
      </p:sp>
    </p:spTree>
    <p:extLst>
      <p:ext uri="{BB962C8B-B14F-4D97-AF65-F5344CB8AC3E}">
        <p14:creationId xmlns:p14="http://schemas.microsoft.com/office/powerpoint/2010/main" val="102225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Class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8DDF22-ACB2-427E-BD2A-1FCDEAC9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7000" y="635000"/>
            <a:ext cx="17526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User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email: String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role: Role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register(): User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login():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000" y="6350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PatientProfile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profileId: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age: Int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bmi: Float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calculateBMI(): Float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7000" y="6350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Prediction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predictionId: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riskScore: Float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runPrediction():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0" y="6350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DigitalTwin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twinId: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heartRate: Int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animateHeartbeat(): Void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9600" y="1333500"/>
            <a:ext cx="1524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80000" y="1333500"/>
            <a:ext cx="127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85000" y="1333500"/>
            <a:ext cx="127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97000" y="2095500"/>
            <a:ext cx="17526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ChatSession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sessionId: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messageId: UUID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sendMessage():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2000" y="20955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SHAPExplanation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explanationId: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feature: String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explainPrediction(): 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7000" y="20955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DietPlan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planId: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calorieTarget: Int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generateDiet():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2000" y="2095500"/>
            <a:ext cx="1778000" cy="13970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MLModel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modelId: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algorithm: String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predict(features): Prob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7000" y="3556000"/>
            <a:ext cx="1752600" cy="133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NearbyFacility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facilityId: UUID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name: String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searchNearby():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2000" y="3556000"/>
            <a:ext cx="1778000" cy="133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25400" rtlCol="0" anchor="ctr"/>
          <a:lstStyle/>
          <a:p>
            <a:pPr algn="ctr">
              <a:spcAft>
                <a:spcPts val="200"/>
              </a:spcAft>
              <a:defRPr sz="800" b="1">
                <a:solidFill>
                  <a:srgbClr val="1E3A8A"/>
                </a:solidFill>
                <a:latin typeface="Calibri"/>
              </a:defRPr>
            </a:pPr>
            <a:r>
              <a:t>&lt;&lt;Class&gt;&gt; Doctor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licenseNo: String</a:t>
            </a:r>
          </a:p>
          <a:p>
            <a:pPr>
              <a:spcAft>
                <a:spcPts val="50"/>
              </a:spcAft>
              <a:defRPr sz="680">
                <a:solidFill>
                  <a:srgbClr val="1E293B"/>
                </a:solidFill>
                <a:latin typeface="Calibri"/>
              </a:defRPr>
            </a:pPr>
            <a:r>
              <a:t>- specialization: String</a:t>
            </a:r>
          </a:p>
          <a:p>
            <a:pPr>
              <a:spcAft>
                <a:spcPts val="50"/>
              </a:spcAft>
              <a:defRPr sz="500">
                <a:solidFill>
                  <a:srgbClr val="2563EB"/>
                </a:solidFill>
                <a:latin typeface="Calibri"/>
              </a:defRPr>
            </a:pPr>
            <a:r>
              <a:t>------------------------</a:t>
            </a:r>
          </a:p>
          <a:p>
            <a:pPr>
              <a:spcAft>
                <a:spcPts val="50"/>
              </a:spcAft>
              <a:defRPr sz="680" b="1">
                <a:solidFill>
                  <a:srgbClr val="2563EB"/>
                </a:solidFill>
                <a:latin typeface="Calibri"/>
              </a:defRPr>
            </a:pPr>
            <a:r>
              <a:t>+ reviewPatient(): Void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07000" y="3556000"/>
            <a:ext cx="3683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Key UML Multiplicities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User 1 --- 1 Profile: </a:t>
            </a:r>
            <a:r>
              <a:rPr sz="850" b="0">
                <a:solidFill>
                  <a:srgbClr val="475569"/>
                </a:solidFill>
                <a:latin typeface="Calibri"/>
              </a:rPr>
              <a:t>Demographic binding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User 1 --- * Prediction: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Longitudinal history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Prediction 1 --- 1 SHAP: </a:t>
            </a:r>
            <a:r>
              <a:rPr sz="850" b="0">
                <a:solidFill>
                  <a:srgbClr val="475569"/>
                </a:solidFill>
                <a:latin typeface="Calibri"/>
              </a:rPr>
              <a:t>Feature 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7000" y="4953000"/>
            <a:ext cx="7493000" cy="107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Model Architecture Semantics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Decoupling: </a:t>
            </a:r>
            <a:r>
              <a:rPr sz="850" b="0">
                <a:solidFill>
                  <a:srgbClr val="475569"/>
                </a:solidFill>
                <a:latin typeface="Calibri"/>
              </a:rPr>
              <a:t>Clean separation of EHR entities, ensemble ML inference, XAI SHAP, and 3D Digital Twin.</a:t>
            </a:r>
          </a:p>
        </p:txBody>
      </p:sp>
    </p:spTree>
    <p:extLst>
      <p:ext uri="{BB962C8B-B14F-4D97-AF65-F5344CB8AC3E}">
        <p14:creationId xmlns:p14="http://schemas.microsoft.com/office/powerpoint/2010/main" val="230675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State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2845DD-6E2C-41D2-BEFD-07CD9516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Lifecycle of Cardiovascular Risk Assessment (UML State Machine)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508000" cy="711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[*]</a:t>
            </a:r>
          </a:p>
          <a:p>
            <a:pPr>
              <a:spcAft>
                <a:spcPts val="150"/>
              </a:spcAft>
              <a:defRPr sz="650">
                <a:solidFill>
                  <a:srgbClr val="475569"/>
                </a:solidFill>
                <a:latin typeface="Calibri"/>
              </a:defRPr>
            </a:pPr>
            <a:r>
              <a:t>Initial State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5000" y="1346200"/>
            <a:ext cx="1905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95500" y="990600"/>
            <a:ext cx="1333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Unauthenticated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entry / showLogin()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do / awaitCredentials()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1346200"/>
            <a:ext cx="1905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9500" y="990600"/>
            <a:ext cx="1333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Authenticated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entry / loadProfile()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do / renderDashboard()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3000" y="1346200"/>
            <a:ext cx="1905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3500" y="990600"/>
            <a:ext cx="1333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Patient Data Entry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entry / initForm()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do / captureVitals()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77000" y="1346200"/>
            <a:ext cx="1905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67500" y="990600"/>
            <a:ext cx="1460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Data Validation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do / checkBounds()</a:t>
            </a:r>
          </a:p>
          <a:p>
            <a:pPr>
              <a:spcAft>
                <a:spcPts val="150"/>
              </a:spcAft>
              <a:defRPr sz="850">
                <a:solidFill>
                  <a:srgbClr val="475569"/>
                </a:solidFill>
                <a:latin typeface="Calibri"/>
              </a:defRPr>
            </a:pPr>
            <a:r>
              <a:t>[Valid] -&gt; Proceed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97000" y="3505200"/>
            <a:ext cx="7493000" cy="252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UML State Transition Rules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Happy Path Flow: </a:t>
            </a:r>
            <a:r>
              <a:rPr sz="850" b="0">
                <a:solidFill>
                  <a:srgbClr val="475569"/>
                </a:solidFill>
                <a:latin typeface="Calibri"/>
              </a:rPr>
              <a:t>Initial -&gt; Unauthenticated -&gt; Authenticated -&gt; Data Entry -&gt; Validation -&gt; Processing -&gt; Complete.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67B3D3-3CD6-5162-350D-A101BF8A42D8}"/>
              </a:ext>
            </a:extLst>
          </p:cNvPr>
          <p:cNvSpPr txBox="1"/>
          <p:nvPr/>
        </p:nvSpPr>
        <p:spPr>
          <a:xfrm>
            <a:off x="1310640" y="35814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4204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Interaction Model –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A297ABC-3261-4FAE-81D1-8852FB10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825500"/>
            <a:ext cx="8255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PATIENT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Role: </a:t>
            </a:r>
            <a:r>
              <a:rPr sz="850" b="0">
                <a:solidFill>
                  <a:srgbClr val="475569"/>
                </a:solidFill>
                <a:latin typeface="Calibri"/>
              </a:rPr>
              <a:t>Primary User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Auth: </a:t>
            </a:r>
            <a:r>
              <a:rPr sz="850" b="0">
                <a:solidFill>
                  <a:srgbClr val="475569"/>
                </a:solidFill>
                <a:latin typeface="Calibri"/>
              </a:rPr>
              <a:t>JWT / Email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Actions: </a:t>
            </a:r>
            <a:r>
              <a:rPr sz="850" b="0">
                <a:solidFill>
                  <a:srgbClr val="475569"/>
                </a:solidFill>
                <a:latin typeface="Calibri"/>
              </a:rPr>
              <a:t>• Run Scan
• View 3D
• AI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4500" y="762000"/>
            <a:ext cx="825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DOCTOR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Role: </a:t>
            </a:r>
            <a:r>
              <a:rPr sz="850" b="0">
                <a:solidFill>
                  <a:srgbClr val="475569"/>
                </a:solidFill>
                <a:latin typeface="Calibri"/>
              </a:rPr>
              <a:t>Clinician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Actions: </a:t>
            </a:r>
            <a:r>
              <a:rPr sz="850" b="0">
                <a:solidFill>
                  <a:srgbClr val="475569"/>
                </a:solidFill>
                <a:latin typeface="Calibri"/>
              </a:rPr>
              <a:t>• Triage
• ECG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500" y="2095500"/>
            <a:ext cx="825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ADMIN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Role: </a:t>
            </a:r>
            <a:r>
              <a:rPr sz="850" b="0">
                <a:solidFill>
                  <a:srgbClr val="475569"/>
                </a:solidFill>
                <a:latin typeface="Calibri"/>
              </a:rPr>
              <a:t>Sys Admin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Actions: </a:t>
            </a:r>
            <a:r>
              <a:rPr sz="850" b="0">
                <a:solidFill>
                  <a:srgbClr val="475569"/>
                </a:solidFill>
                <a:latin typeface="Calibri"/>
              </a:rPr>
              <a:t>• User RBAC
•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635000"/>
            <a:ext cx="5715000" cy="3365500"/>
          </a:xfrm>
          <a:prstGeom prst="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13000" y="863600"/>
            <a:ext cx="12700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UC1: Auth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Login &amp; 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6500" y="863600"/>
            <a:ext cx="14605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UC2: Profile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Manage Vitals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13000" y="1371600"/>
            <a:ext cx="1397000" cy="482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UC3: Run Risk Scan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Core: </a:t>
            </a:r>
            <a:r>
              <a:rPr sz="850" b="0">
                <a:solidFill>
                  <a:srgbClr val="475569"/>
                </a:solidFill>
                <a:latin typeface="Calibri"/>
              </a:rPr>
              <a:t>5 ML Models + SHAP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7000" y="4127500"/>
            <a:ext cx="74930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External Services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APIs: </a:t>
            </a:r>
            <a:r>
              <a:rPr sz="850" b="0">
                <a:solidFill>
                  <a:srgbClr val="475569"/>
                </a:solidFill>
                <a:latin typeface="Calibri"/>
              </a:rPr>
              <a:t>FastAPI ML Microservice, Google Gemini LLM API, Google Maps Platform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7000" y="5016500"/>
            <a:ext cx="7493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Use Case Model Structural Summary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Summary: </a:t>
            </a:r>
            <a:r>
              <a:rPr sz="850" b="0">
                <a:solidFill>
                  <a:srgbClr val="475569"/>
                </a:solidFill>
                <a:latin typeface="Calibri"/>
              </a:rPr>
              <a:t>Comprehensive representation of Patient, Doctor, and Admin interactions across the platform.</a:t>
            </a:r>
          </a:p>
        </p:txBody>
      </p:sp>
    </p:spTree>
    <p:extLst>
      <p:ext uri="{BB962C8B-B14F-4D97-AF65-F5344CB8AC3E}">
        <p14:creationId xmlns:p14="http://schemas.microsoft.com/office/powerpoint/2010/main" val="233724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Interaction Model –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74CAD3-17D6-445F-908F-BE32359A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UML Sequence Diagram: Patient Executes Cardiovascular Risk Scan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65200"/>
            <a:ext cx="7493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Sequential Execution Steps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1. Patient Input: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enters age, systolic/diastolic BP, ECG signals, and lipid profile into React frontend.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2. Reactive Store: </a:t>
            </a:r>
            <a:r>
              <a:rPr sz="850" b="0">
                <a:solidFill>
                  <a:srgbClr val="475569"/>
                </a:solidFill>
                <a:latin typeface="Calibri"/>
              </a:rPr>
              <a:t>Zustand draft store captures biometric values and dispatches payload to Node.js Gateway.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3. API Gateway Verification: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Express Gateway validates JWT authentication token and sanitizes clinical feature boundaries.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4. ML Microservice Dispatch: </a:t>
            </a:r>
            <a:r>
              <a:rPr sz="850" b="0">
                <a:solidFill>
                  <a:srgbClr val="475569"/>
                </a:solidFill>
                <a:latin typeface="Calibri"/>
              </a:rPr>
              <a:t>Gateway issues POST /predict call to Python FastAPI containerized microservice.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5. Multi-Model Ensemble: </a:t>
            </a:r>
            <a:r>
              <a:rPr sz="850" b="0">
                <a:solidFill>
                  <a:srgbClr val="475569"/>
                </a:solidFill>
                <a:latin typeface="Calibri"/>
              </a:rPr>
              <a:t>FastAPI executes 5 models concurrently (LightGBM, XGBoost, CatBoost, RF) &amp; aggregates probabilities.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6. Explainable AI Computation: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SHAP TreeExplainer computes local feature contribution weights for every clinical biomarker.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7. Persistence &amp; Plan Generation: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Express Gateway commits prediction record to PostgreSQL and synthesizes dynamic diet/exercise regimens.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8. Synchronous UI Multi-Cast: </a:t>
            </a:r>
            <a:r>
              <a:rPr sz="850" b="0">
                <a:solidFill>
                  <a:srgbClr val="475569"/>
                </a:solidFill>
                <a:latin typeface="Calibri"/>
              </a:rPr>
              <a:t>Zustand updates 3D Digital Twin heartbeat pulse, scrolls live ECG waveform, and renders risk gauge.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0" y="4889500"/>
            <a:ext cx="7493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Sequence Performance Benchmark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Latency Target: </a:t>
            </a:r>
            <a:r>
              <a:rPr sz="850" b="0">
                <a:solidFill>
                  <a:srgbClr val="475569"/>
                </a:solidFill>
                <a:latin typeface="Calibri"/>
              </a:rPr>
              <a:t>&lt; 650 ms total roundtrip execution across 5 models with zero-downtime fallback.</a:t>
            </a:r>
          </a:p>
        </p:txBody>
      </p:sp>
    </p:spTree>
    <p:extLst>
      <p:ext uri="{BB962C8B-B14F-4D97-AF65-F5344CB8AC3E}">
        <p14:creationId xmlns:p14="http://schemas.microsoft.com/office/powerpoint/2010/main" val="428317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Interaction Model – 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2538BF1-D3D6-4751-8414-D5AB5AE1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UML Activity Diagram: End-to-End Cardiovascular Risk Assessment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65200"/>
            <a:ext cx="7493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Activity Workflow &amp; Concurrency Control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Phase 1: Ingestion &amp; Guarding: </a:t>
            </a:r>
            <a:r>
              <a:rPr sz="850" b="0">
                <a:solidFill>
                  <a:srgbClr val="475569"/>
                </a:solidFill>
                <a:latin typeface="Calibri"/>
              </a:rPr>
              <a:t>Start State -&gt; Authenticate User (JWT) -&gt; Enter Clinical Vitals -&gt; Decision Guard [Valid Input?]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Phase 2: Parallel Model Execution (Fork Bar 1): </a:t>
            </a:r>
            <a:r>
              <a:rPr sz="850" b="0">
                <a:solidFill>
                  <a:srgbClr val="475569"/>
                </a:solidFill>
                <a:latin typeface="Calibri"/>
              </a:rPr>
              <a:t>Concurrently execute 5 Machine Learning models alongside SHAP TreeExplainer feature attribution.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Phase 3: Synchronization (Join Bar 1): </a:t>
            </a:r>
            <a:r>
              <a:rPr sz="850" b="0">
                <a:solidFill>
                  <a:srgbClr val="475569"/>
                </a:solidFill>
                <a:latin typeface="Calibri"/>
              </a:rPr>
              <a:t>Aggregate risk probabilities, calculate 0-100 Cardiovascular Health Score, and compute Arterial Age.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Phase 4: Multi-Cast Dispatch (Fork Bar 2): </a:t>
            </a:r>
            <a:r>
              <a:rPr sz="850" b="0">
                <a:solidFill>
                  <a:srgbClr val="475569"/>
                </a:solidFill>
                <a:latin typeface="Calibri"/>
              </a:rPr>
              <a:t>Simultaneously write to PostgreSQL DB, animate Three.js 3D Heart pulse, and render dynamic dashboard telemetry.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Phase 5: Decision Loop &amp; Termination: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inspects SHAP risk drivers -&gt; Decision [Run Another Scan?] -&gt; Final State / Reset draft.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0" y="4254500"/>
            <a:ext cx="7493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UML Activity Control Flow Semantics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Concurrency Management: </a:t>
            </a:r>
            <a:r>
              <a:rPr sz="850" b="0">
                <a:solidFill>
                  <a:srgbClr val="475569"/>
                </a:solidFill>
                <a:latin typeface="Calibri"/>
              </a:rPr>
              <a:t>Fork/join synchronization bars manage multi-threaded model execution without blocking client rendering.</a:t>
            </a:r>
          </a:p>
        </p:txBody>
      </p:sp>
    </p:spTree>
    <p:extLst>
      <p:ext uri="{BB962C8B-B14F-4D97-AF65-F5344CB8AC3E}">
        <p14:creationId xmlns:p14="http://schemas.microsoft.com/office/powerpoint/2010/main" val="27441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Modular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10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2A553C-7F6B-4FF2-9AF5-90F75CEE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System Modular Architecture (11 Interconnected Subsystems)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65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M1: Auth &amp; User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Login, Register, JWT.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2000" y="965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M2: Patient Profile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Vitals ingestion.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7000" y="965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M5: 3D Digital Twin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Three.js WebGL heart.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2000" y="965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M6: HridyaAI Assistant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Gemini medical 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1981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M3: Predictive ML Engine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5 Ensembles.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2000" y="1981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M4: Explainable AI (SHAP)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Feature attribution.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7000" y="1981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M7: Preventive Engine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Diet &amp; workouts.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2000" y="1981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M8: Geospatial Care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Google Maps ICUs.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7000" y="2997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M9: Doctor Portal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Triage &amp; ECG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2000" y="2997200"/>
            <a:ext cx="1752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M10: Admin Telemetry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Audit logs &amp; RBAC.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7000" y="2997200"/>
            <a:ext cx="3683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M11: Data Persistence Layer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Scope: </a:t>
            </a:r>
            <a:r>
              <a:rPr sz="850" b="0">
                <a:solidFill>
                  <a:srgbClr val="475569"/>
                </a:solidFill>
                <a:latin typeface="Calibri"/>
              </a:rPr>
              <a:t>PostgreSQL + Prisma + pgvector.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97000" y="4038600"/>
            <a:ext cx="7493000" cy="199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Inter-Module Communication Protocols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Decoupling: </a:t>
            </a:r>
            <a:r>
              <a:rPr sz="850" b="0">
                <a:solidFill>
                  <a:srgbClr val="475569"/>
                </a:solidFill>
                <a:latin typeface="Calibri"/>
              </a:rPr>
              <a:t>Modular separation of frontend, gateway, AI engine, and data persistence via REST, WebSockets, and Prisma ORM.</a:t>
            </a:r>
          </a:p>
        </p:txBody>
      </p:sp>
    </p:spTree>
    <p:extLst>
      <p:ext uri="{BB962C8B-B14F-4D97-AF65-F5344CB8AC3E}">
        <p14:creationId xmlns:p14="http://schemas.microsoft.com/office/powerpoint/2010/main" val="3918266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11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5C5563-6CC1-4B0B-9386-7A052848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Flow Architecture: Level-0 Context Diagram &amp; Level-1 Subsystem Decomposition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65200"/>
            <a:ext cx="7493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DFD LEVEL 0: SYSTEM CONTEXT DIAGRAM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Process: </a:t>
            </a:r>
            <a:r>
              <a:rPr sz="850" b="0">
                <a:solidFill>
                  <a:srgbClr val="475569"/>
                </a:solidFill>
                <a:latin typeface="Calibri"/>
              </a:rPr>
              <a:t>0.0 HridayaDarpana Clinical Intelligence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0" y="2082800"/>
            <a:ext cx="3683000" cy="204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DFD LEVEL 1: PROCESSES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P1.0: </a:t>
            </a:r>
            <a:r>
              <a:rPr sz="850" b="0">
                <a:solidFill>
                  <a:srgbClr val="475569"/>
                </a:solidFill>
                <a:latin typeface="Calibri"/>
              </a:rPr>
              <a:t>Authentication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P2.0: </a:t>
            </a:r>
            <a:r>
              <a:rPr sz="850" b="0">
                <a:solidFill>
                  <a:srgbClr val="475569"/>
                </a:solidFill>
                <a:latin typeface="Calibri"/>
              </a:rPr>
              <a:t>Vitals Ingestion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P3.0: </a:t>
            </a:r>
            <a:r>
              <a:rPr sz="850" b="0">
                <a:solidFill>
                  <a:srgbClr val="475569"/>
                </a:solidFill>
                <a:latin typeface="Calibri"/>
              </a:rPr>
              <a:t>ML Risk Inference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P4.0: </a:t>
            </a:r>
            <a:r>
              <a:rPr sz="850" b="0">
                <a:solidFill>
                  <a:srgbClr val="475569"/>
                </a:solidFill>
                <a:latin typeface="Calibri"/>
              </a:rPr>
              <a:t>SHAP Computation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P5.0: </a:t>
            </a:r>
            <a:r>
              <a:rPr sz="850" b="0">
                <a:solidFill>
                  <a:srgbClr val="475569"/>
                </a:solidFill>
                <a:latin typeface="Calibri"/>
              </a:rPr>
              <a:t>3D Twin &amp; ECG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7000" y="2082800"/>
            <a:ext cx="3683000" cy="2044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DFD LEVEL 1: DATA STORES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D1: </a:t>
            </a:r>
            <a:r>
              <a:rPr sz="850" b="0">
                <a:solidFill>
                  <a:srgbClr val="475569"/>
                </a:solidFill>
                <a:latin typeface="Calibri"/>
              </a:rPr>
              <a:t>User Accounts Store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D2: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Profiles Store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D3: </a:t>
            </a:r>
            <a:r>
              <a:rPr sz="850" b="0">
                <a:solidFill>
                  <a:srgbClr val="475569"/>
                </a:solidFill>
                <a:latin typeface="Calibri"/>
              </a:rPr>
              <a:t>Risk Predictions Store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D4: </a:t>
            </a:r>
            <a:r>
              <a:rPr sz="850" b="0">
                <a:solidFill>
                  <a:srgbClr val="475569"/>
                </a:solidFill>
                <a:latin typeface="Calibri"/>
              </a:rPr>
              <a:t>Trained Models Store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D5: </a:t>
            </a:r>
            <a:r>
              <a:rPr sz="850" b="0">
                <a:solidFill>
                  <a:srgbClr val="475569"/>
                </a:solidFill>
                <a:latin typeface="Calibri"/>
              </a:rPr>
              <a:t>Knowledge Base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97000" y="4254500"/>
            <a:ext cx="7493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End-to-End Data Transformation Pipeline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Clinical Flow: </a:t>
            </a:r>
            <a:r>
              <a:rPr sz="850" b="0">
                <a:solidFill>
                  <a:srgbClr val="475569"/>
                </a:solidFill>
                <a:latin typeface="Calibri"/>
              </a:rPr>
              <a:t>Patient Vitals -&gt; P2.0 -&gt; Preprocessed Vector -&gt; P3.0 (ML Models D4) -&gt; Risk Probabilities -&gt; P4.0 (SHAP) -&gt; Factor Importance -&gt; Persisted to D3 -&gt; Dispatched to P5.0 (3D Twin) &amp; P7.0 (Diet/Exercise).</a:t>
            </a:r>
          </a:p>
        </p:txBody>
      </p:sp>
    </p:spTree>
    <p:extLst>
      <p:ext uri="{BB962C8B-B14F-4D97-AF65-F5344CB8AC3E}">
        <p14:creationId xmlns:p14="http://schemas.microsoft.com/office/powerpoint/2010/main" val="345745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Project Budget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12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FBA0A5-89E7-4E6D-9A28-0FEE7AB6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Comprehensive Financial &amp; Computational Budget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1. Hardware Infrastructure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Cost: </a:t>
            </a:r>
            <a:r>
              <a:rPr sz="850" b="0">
                <a:solidFill>
                  <a:srgbClr val="475569"/>
                </a:solidFill>
                <a:latin typeface="Calibri"/>
              </a:rPr>
              <a:t>Rs. 0.00 (Existing college lab computers &amp; personal student workstations)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2. Open-Source Stack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Cost: </a:t>
            </a:r>
            <a:r>
              <a:rPr sz="850" b="0">
                <a:solidFill>
                  <a:srgbClr val="475569"/>
                </a:solidFill>
                <a:latin typeface="Calibri"/>
              </a:rPr>
              <a:t>Rs. 0.00 (100% Free and Open Source: React 19, FastAPI, PostgreSQL)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3. Cloud Hosting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Cost: </a:t>
            </a:r>
            <a:r>
              <a:rPr sz="850" b="0">
                <a:solidFill>
                  <a:srgbClr val="475569"/>
                </a:solidFill>
                <a:latin typeface="Calibri"/>
              </a:rPr>
              <a:t>Rs. 0.00 (Neon PostgreSQL Serverless Free Tier &amp; Render / Vercel Web Hosting)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4. Datasets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Cost: </a:t>
            </a:r>
            <a:r>
              <a:rPr sz="850" b="0">
                <a:solidFill>
                  <a:srgbClr val="475569"/>
                </a:solidFill>
                <a:latin typeface="Calibri"/>
              </a:rPr>
              <a:t>Rs. 0.00 (Open-Access Research: Framingham, Kaggle CVD, PhysioNet)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3835400"/>
            <a:ext cx="7493000" cy="219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Budget Justification &amp; Economic Viability Analysis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Frugal Engineering: </a:t>
            </a:r>
            <a:r>
              <a:rPr sz="850" b="0">
                <a:solidFill>
                  <a:srgbClr val="475569"/>
                </a:solidFill>
                <a:latin typeface="Calibri"/>
              </a:rPr>
              <a:t>HridayaDarpana delivers enterprise clinical AI capabilities with zero direct monetary expenditure by leveraging modern FOSS software and cloud free tiers.</a:t>
            </a:r>
          </a:p>
        </p:txBody>
      </p:sp>
    </p:spTree>
    <p:extLst>
      <p:ext uri="{BB962C8B-B14F-4D97-AF65-F5344CB8AC3E}">
        <p14:creationId xmlns:p14="http://schemas.microsoft.com/office/powerpoint/2010/main" val="4092914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Budget Components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13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76219"/>
              </p:ext>
            </p:extLst>
          </p:nvPr>
        </p:nvGraphicFramePr>
        <p:xfrm>
          <a:off x="1197805" y="848494"/>
          <a:ext cx="7735883" cy="521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930">
                  <a:extLst>
                    <a:ext uri="{9D8B030D-6E8A-4147-A177-3AD203B41FA5}">
                      <a16:colId xmlns:a16="http://schemas.microsoft.com/office/drawing/2014/main" val="3492701381"/>
                    </a:ext>
                  </a:extLst>
                </a:gridCol>
                <a:gridCol w="2183312">
                  <a:extLst>
                    <a:ext uri="{9D8B030D-6E8A-4147-A177-3AD203B41FA5}">
                      <a16:colId xmlns:a16="http://schemas.microsoft.com/office/drawing/2014/main" val="3390230327"/>
                    </a:ext>
                  </a:extLst>
                </a:gridCol>
                <a:gridCol w="4899641">
                  <a:extLst>
                    <a:ext uri="{9D8B030D-6E8A-4147-A177-3AD203B41FA5}">
                      <a16:colId xmlns:a16="http://schemas.microsoft.com/office/drawing/2014/main" val="1269224892"/>
                    </a:ext>
                  </a:extLst>
                </a:gridCol>
              </a:tblGrid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854881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Capital Expenditure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Utilized existing personal laptops and college laboratory computer infrastructure.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010662"/>
                  </a:ext>
                </a:extLst>
              </a:tr>
              <a:tr h="75683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Consumables / Non-Consumables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paperless digital system; no physical reagents or disposable kits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7532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Research Expenses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Accessed open-access clinical datasets (Framingham, Kaggle, PhysioNet) and IEEE papers.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46433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Training Expenses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Leveraged official documentation, developer tutorials, and academic publications.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49556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Professional Services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Self-developed architecture; consulted ACC/AHA published guidelines for risk thresholds.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72038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Travelling Expenses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On-campus collaborative development and remote repository synchronization via GitHub.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000804"/>
                  </a:ext>
                </a:extLst>
              </a:tr>
              <a:tr h="75683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Material Expenses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Open-source software libraries (React, FastAPI, XGBoost, Prisma) &amp; free cloud tiers.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062516"/>
                  </a:ext>
                </a:extLst>
              </a:tr>
              <a:tr h="4675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Any other Expense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(Rs. 0.00)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Domain hosting &amp; cloud API allowances covered within standard free academic quotas.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227124"/>
                  </a:ext>
                </a:extLst>
              </a:tr>
            </a:tbl>
          </a:graphicData>
        </a:graphic>
      </p:graphicFrame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3C6759-7928-49AA-921A-44EA62FE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39411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90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14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40B5C1-75CF-4E75-A039-36C116AC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Environmental Sustainability &amp; Green Computing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1. Energy-Efficient ML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Inference: </a:t>
            </a:r>
            <a:r>
              <a:rPr sz="850" b="0">
                <a:solidFill>
                  <a:srgbClr val="475569"/>
                </a:solidFill>
                <a:latin typeface="Calibri"/>
              </a:rPr>
              <a:t>Lightweight tree ensembles execute on CPU in milliseconds without power-hungry GPUs.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2. Paperless EHR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Waste Reduction: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100% digital health records eliminate physical paper, file folders, and printer toner.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3. Travel Emissions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Reduction: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Early remote screening prevents unnecessary vehicular trips to distant specialized hospitals.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4. Elastic Cloud Lifecycle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Serverless: </a:t>
            </a:r>
            <a:r>
              <a:rPr sz="850" b="0">
                <a:solidFill>
                  <a:srgbClr val="475569"/>
                </a:solidFill>
                <a:latin typeface="Calibri"/>
              </a:rPr>
              <a:t>Serverless PostgreSQL &amp; containerized microservices scale to zero when idle, conserving electricity.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3835400"/>
            <a:ext cx="7493000" cy="219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Quantifiable Sustainability Impact Summary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Resource Conservation: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CPU-optimized tree ensemble inference reduces carbon intensity by &gt;85% compared to large neural foundation models.</a:t>
            </a:r>
          </a:p>
        </p:txBody>
      </p:sp>
    </p:spTree>
    <p:extLst>
      <p:ext uri="{BB962C8B-B14F-4D97-AF65-F5344CB8AC3E}">
        <p14:creationId xmlns:p14="http://schemas.microsoft.com/office/powerpoint/2010/main" val="235683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Cost Effectiveness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15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004E3-E9B2-43BD-B527-115972D6F4A0}"/>
              </a:ext>
            </a:extLst>
          </p:cNvPr>
          <p:cNvSpPr txBox="1"/>
          <p:nvPr/>
        </p:nvSpPr>
        <p:spPr>
          <a:xfrm>
            <a:off x="1081548" y="762000"/>
            <a:ext cx="7866888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6F10925-E7A8-457C-9870-CB2DAC3A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Cost-Effectiveness Analysis &amp; Healthcare ROI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1. Zero Licensing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FOSS: </a:t>
            </a:r>
            <a:r>
              <a:rPr sz="850" b="0">
                <a:solidFill>
                  <a:srgbClr val="475569"/>
                </a:solidFill>
                <a:latin typeface="Calibri"/>
              </a:rPr>
              <a:t>Replaces expensive commercial clinical risk software with React 19, FastAPI, PostgreSQL, and Scikit-Learn.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2. Prevention Value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High ROI: </a:t>
            </a:r>
            <a:r>
              <a:rPr sz="850" b="0">
                <a:solidFill>
                  <a:srgbClr val="475569"/>
                </a:solidFill>
                <a:latin typeface="Calibri"/>
              </a:rPr>
              <a:t>Proactive early risk detection prevents catastrophic cardiac events, slashing expensive emergency hospitalizations.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9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3. Optimal Cloud Efficiency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Predictable: </a:t>
            </a:r>
            <a:r>
              <a:rPr sz="850" b="0">
                <a:solidFill>
                  <a:srgbClr val="475569"/>
                </a:solidFill>
                <a:latin typeface="Calibri"/>
              </a:rPr>
              <a:t>Serverless architecture ensures minimal marginal hosting cost per active patient record.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4. Academic Optimization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Campus: </a:t>
            </a:r>
            <a:r>
              <a:rPr sz="850" b="0">
                <a:solidFill>
                  <a:srgbClr val="475569"/>
                </a:solidFill>
                <a:latin typeface="Calibri"/>
              </a:rPr>
              <a:t>Client-side WebGL offloads 3D graphics rendering directly to browser hardware without costly server GPU instances.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97000" y="3835400"/>
            <a:ext cx="7493000" cy="219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Comparative Economic Justification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Democratic Healthcare: </a:t>
            </a:r>
            <a:r>
              <a:rPr sz="850" b="0">
                <a:solidFill>
                  <a:srgbClr val="475569"/>
                </a:solidFill>
                <a:latin typeface="Calibri"/>
              </a:rPr>
              <a:t>Delivers hospital-grade multi-model risk assessment, SHAP explainability, and 3D Digital Twin at zero initial software acquisition cost.</a:t>
            </a:r>
          </a:p>
        </p:txBody>
      </p:sp>
    </p:spTree>
    <p:extLst>
      <p:ext uri="{BB962C8B-B14F-4D97-AF65-F5344CB8AC3E}">
        <p14:creationId xmlns:p14="http://schemas.microsoft.com/office/powerpoint/2010/main" val="603003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Progress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32421C-C90A-46EF-8A9B-F58A9148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Project Implementation Milestones &amp; Progress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368300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Phase-1 &amp; Pre-Phase-2 Completed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Dataset Ingestion &amp; Cleaning: </a:t>
            </a:r>
            <a:r>
              <a:rPr sz="850" b="0">
                <a:solidFill>
                  <a:srgbClr val="475569"/>
                </a:solidFill>
                <a:latin typeface="Calibri"/>
              </a:rPr>
              <a:t>Harmonized Framingham, Kaggle CVD, and PhysioNet clinical records.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Multi-Model ML Training: </a:t>
            </a:r>
            <a:r>
              <a:rPr sz="850" b="0">
                <a:solidFill>
                  <a:srgbClr val="475569"/>
                </a:solidFill>
                <a:latin typeface="Calibri"/>
              </a:rPr>
              <a:t>Trained &amp; validated LightGBM, XGBoost, CatBoost, and Random Forest.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FastAPI AI Microservice: </a:t>
            </a:r>
            <a:r>
              <a:rPr sz="850" b="0">
                <a:solidFill>
                  <a:srgbClr val="475569"/>
                </a:solidFill>
                <a:latin typeface="Calibri"/>
              </a:rPr>
              <a:t>Engineered REST endpoints with real-time SHAP TreeExplainer.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React 19 &amp; 3D Digital Twin: </a:t>
            </a:r>
            <a:r>
              <a:rPr sz="850" b="0">
                <a:solidFill>
                  <a:srgbClr val="475569"/>
                </a:solidFill>
                <a:latin typeface="Calibri"/>
              </a:rPr>
              <a:t>Built Three.js WebGL heart simulation with real-time heartbeat animation.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Zustand State Hub: </a:t>
            </a:r>
            <a:r>
              <a:rPr sz="850" b="0">
                <a:solidFill>
                  <a:srgbClr val="475569"/>
                </a:solidFill>
                <a:latin typeface="Calibri"/>
              </a:rPr>
              <a:t>Synchronized dynamic risk gauge and live scrolling ECG monitor.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Node.js Gateway &amp; Prisma: </a:t>
            </a:r>
            <a:r>
              <a:rPr sz="850" b="0">
                <a:solidFill>
                  <a:srgbClr val="475569"/>
                </a:solidFill>
                <a:latin typeface="Calibri"/>
              </a:rPr>
              <a:t>Implemented JWT auth, fallback engine, and PostgreSQL schema migrations.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HridyaAI &amp; Maps Services: </a:t>
            </a:r>
            <a:r>
              <a:rPr sz="850" b="0">
                <a:solidFill>
                  <a:srgbClr val="475569"/>
                </a:solidFill>
                <a:latin typeface="Calibri"/>
              </a:rPr>
              <a:t>Integrated Google Gemini API and Google Maps cardiac care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990600"/>
            <a:ext cx="368300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Phase-2 Final Milestones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Doctor Triage Workflows: </a:t>
            </a:r>
            <a:r>
              <a:rPr sz="850" b="0">
                <a:solidFill>
                  <a:srgbClr val="475569"/>
                </a:solidFill>
                <a:latin typeface="Calibri"/>
              </a:rPr>
              <a:t>Expand cardiologist portal with patient queue management and clinical notes.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Vector RAG Optimization: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Complete pgvector embedding indexing for accelerated medical knowledge retrieval.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Advanced Telemetry Analytics: </a:t>
            </a:r>
            <a:r>
              <a:rPr sz="850" b="0">
                <a:solidFill>
                  <a:srgbClr val="475569"/>
                </a:solidFill>
                <a:latin typeface="Calibri"/>
              </a:rPr>
              <a:t>Implement longitudinal multi-scan trend graphs and arterial age progression.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Hospital Pilot Simulation: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Simulate realistic clinical triage scenarios with multi-user concurrency testing.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Security Hardening &amp; Audit: </a:t>
            </a:r>
            <a:r>
              <a:rPr sz="850" b="0">
                <a:solidFill>
                  <a:srgbClr val="475569"/>
                </a:solidFill>
                <a:latin typeface="Calibri"/>
              </a:rPr>
              <a:t>Perform end-to-end vulnerability assessment and automated penetration testing.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Final Phase-2 Documentation: </a:t>
            </a:r>
            <a:r>
              <a:rPr sz="850" b="0">
                <a:solidFill>
                  <a:srgbClr val="475569"/>
                </a:solidFill>
                <a:latin typeface="Calibri"/>
              </a:rPr>
              <a:t>Finalize IEEE project report, clinical validation whitepaper, and deployment 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4889500"/>
            <a:ext cx="7493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Current Status: On Track for Successful Final Phase-2 Delivery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Readiness Level: </a:t>
            </a:r>
            <a:r>
              <a:rPr sz="850" b="0">
                <a:solidFill>
                  <a:srgbClr val="475569"/>
                </a:solidFill>
                <a:latin typeface="Calibri"/>
              </a:rPr>
              <a:t>All primary machine learning models, explainability engines, 3D visualizations, and full-stack API workflows are operational.</a:t>
            </a:r>
          </a:p>
        </p:txBody>
      </p:sp>
    </p:spTree>
    <p:extLst>
      <p:ext uri="{BB962C8B-B14F-4D97-AF65-F5344CB8AC3E}">
        <p14:creationId xmlns:p14="http://schemas.microsoft.com/office/powerpoint/2010/main" val="3530894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932216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17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2DCCA7-804F-40CD-8746-998F657A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Project Summary &amp; Key Accomplishments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1. Predictive Precision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Ensemble Intelligence: </a:t>
            </a:r>
            <a:r>
              <a:rPr sz="850" b="0">
                <a:solidFill>
                  <a:srgbClr val="475569"/>
                </a:solidFill>
                <a:latin typeface="Calibri"/>
              </a:rPr>
              <a:t>Successfully engineered a 5-model ML architecture delivering accurate CVD, stroke, and heart failure risk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9906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2. Explainable AI (XAI)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Clinical Transparency: </a:t>
            </a:r>
            <a:r>
              <a:rPr sz="850" b="0">
                <a:solidFill>
                  <a:srgbClr val="475569"/>
                </a:solidFill>
                <a:latin typeface="Calibri"/>
              </a:rPr>
              <a:t>Demystified black-box machine learning by integrating real-time SHAP feature attribution for actionable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3. 3D Digital Twin Simulation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WebGL Twin: </a:t>
            </a:r>
            <a:r>
              <a:rPr sz="850" b="0">
                <a:solidFill>
                  <a:srgbClr val="475569"/>
                </a:solidFill>
                <a:latin typeface="Calibri"/>
              </a:rPr>
              <a:t>Rendered a physiological 3D heart model simulating real-time anatomical heartbeat, stress, and chamber hemodynamics.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7000" y="2413000"/>
            <a:ext cx="3683000" cy="129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4. Unified SaaS Ecosystem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End-to-End Care: </a:t>
            </a:r>
            <a:r>
              <a:rPr sz="850" b="0">
                <a:solidFill>
                  <a:srgbClr val="475569"/>
                </a:solidFill>
                <a:latin typeface="Calibri"/>
              </a:rPr>
              <a:t>Integrated conversational AI (HridyaAI), personalized diet/exercise plans, and Google Maps cardiac care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7000" y="3835400"/>
            <a:ext cx="7493000" cy="2197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Final Project Impact Statement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• Bridging the Prevention Gap: </a:t>
            </a:r>
            <a:r>
              <a:rPr sz="850" b="0">
                <a:solidFill>
                  <a:srgbClr val="475569"/>
                </a:solidFill>
                <a:latin typeface="Calibri"/>
              </a:rPr>
              <a:t>HridayaDarpana establishes a novel benchmark in digital cardiovascular healthcare by transforming passive health data into an active, visually immersive, and explainable preventive intelligence system.</a:t>
            </a:r>
          </a:p>
        </p:txBody>
      </p:sp>
    </p:spTree>
    <p:extLst>
      <p:ext uri="{BB962C8B-B14F-4D97-AF65-F5344CB8AC3E}">
        <p14:creationId xmlns:p14="http://schemas.microsoft.com/office/powerpoint/2010/main" val="216025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>
              <a:defRPr sz="2600" b="1">
                <a:solidFill>
                  <a:srgbClr val="5A1E14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8/18/2026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18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4F8027E-BE48-4C4C-9C9E-D659648E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0" y="635000"/>
            <a:ext cx="7493000" cy="279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Formal Academic Bibliography (IEEE Citation Format)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7000" y="990600"/>
            <a:ext cx="7493000" cy="504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Calibri"/>
              </a:defRPr>
            </a:pPr>
            <a:r>
              <a:t>Key Literature Cited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[1]: </a:t>
            </a:r>
            <a:r>
              <a:rPr sz="850" b="0">
                <a:solidFill>
                  <a:srgbClr val="475569"/>
                </a:solidFill>
                <a:latin typeface="Calibri"/>
              </a:rPr>
              <a:t>R. B. D'Agostino et al., 'General cardiovascular risk profile for use in primary care: the Framingham Heart Study,' Circulation, vol. 117, no. 6, pp. 743-753, 2008.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[2]: </a:t>
            </a:r>
            <a:r>
              <a:rPr sz="850" b="0">
                <a:solidFill>
                  <a:srgbClr val="475569"/>
                </a:solidFill>
                <a:latin typeface="Calibri"/>
              </a:rPr>
              <a:t>S. M. Lundberg and S.-I. Lee, 'A unified approach to interpreting model predictions,' in Advances in Neural Information Processing Systems (NeurIPS), vol. 30, pp. 4765-4774, 2017.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[3]: </a:t>
            </a:r>
            <a:r>
              <a:rPr sz="850" b="0">
                <a:solidFill>
                  <a:srgbClr val="475569"/>
                </a:solidFill>
                <a:latin typeface="Calibri"/>
              </a:rPr>
              <a:t>T. Chen and C. Guestrin, 'XGBoost: A scalable tree boosting system,' in Proc. 22nd ACM SIGKDD Int. Conf. Knowledge Discovery and Data Mining, pp. 785-794, 2016.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[4]: </a:t>
            </a:r>
            <a:r>
              <a:rPr sz="850" b="0">
                <a:solidFill>
                  <a:srgbClr val="475569"/>
                </a:solidFill>
                <a:latin typeface="Calibri"/>
              </a:rPr>
              <a:t>G. Ke et al., 'LightGBM: A highly efficient gradient boosting decision tree,' in Advances in Neural Information Processing Systems (NeurIPS), vol. 30, pp. 3146-3154, 2017.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[5]: </a:t>
            </a:r>
            <a:r>
              <a:rPr sz="850" b="0">
                <a:solidFill>
                  <a:srgbClr val="475569"/>
                </a:solidFill>
                <a:latin typeface="Calibri"/>
              </a:rPr>
              <a:t>A. L. Goldberger et al., 'PhysioBank, PhysioToolkit, and PhysioNet: Components of a new research resource for complex physiologic signals,' Circulation, vol. 101, no. 23, pp. e215-e220, 2000.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[6]: </a:t>
            </a:r>
            <a:r>
              <a:rPr sz="850" b="0">
                <a:solidFill>
                  <a:srgbClr val="475569"/>
                </a:solidFill>
                <a:latin typeface="Calibri"/>
              </a:rPr>
              <a:t>P. Saracco et al., 'Digital twins in healthcare: Challenges, opportunities, and future directions,' IEEE Journal of Biomedical and Health Informatics, vol. 26, no. 8, pp. 3820-3831, 2022.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[7]: </a:t>
            </a:r>
            <a:r>
              <a:rPr sz="850" b="0">
                <a:solidFill>
                  <a:srgbClr val="475569"/>
                </a:solidFill>
                <a:latin typeface="Calibri"/>
              </a:rPr>
              <a:t>A. Vaswani et al., 'Attention is all you need,' in Advances in Neural Information Processing Systems (NeurIPS), vol. 30, pp. 5998-6008, 2017.</a:t>
            </a:r>
          </a:p>
          <a:p>
            <a:pPr>
              <a:spcAft>
                <a:spcPts val="150"/>
              </a:spcAft>
              <a:defRPr sz="850">
                <a:latin typeface="Calibri"/>
              </a:defRPr>
            </a:pPr>
            <a:r>
              <a:rPr sz="850" b="1">
                <a:solidFill>
                  <a:srgbClr val="1E293B"/>
                </a:solidFill>
                <a:latin typeface="Calibri"/>
              </a:rPr>
              <a:t>[8]: </a:t>
            </a:r>
            <a:r>
              <a:rPr sz="850" b="0">
                <a:solidFill>
                  <a:srgbClr val="475569"/>
                </a:solidFill>
                <a:latin typeface="Calibri"/>
              </a:rPr>
              <a:t>American College of Cardiology / American Heart Association (ACC/AHA), '2019 ACC/AHA Guideline on the Primary Prevention of Cardiovascular Disease,' Circulation, vol. 140, no. 11, pp. e596-e646, 2019.</a:t>
            </a:r>
          </a:p>
        </p:txBody>
      </p:sp>
    </p:spTree>
    <p:extLst>
      <p:ext uri="{BB962C8B-B14F-4D97-AF65-F5344CB8AC3E}">
        <p14:creationId xmlns:p14="http://schemas.microsoft.com/office/powerpoint/2010/main" val="3004226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406</TotalTime>
  <Words>3044</Words>
  <Application>Microsoft Office PowerPoint</Application>
  <PresentationFormat>On-screen Show (4:3)</PresentationFormat>
  <Paragraphs>397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Gill Sans MT</vt:lpstr>
      <vt:lpstr>Verdana</vt:lpstr>
      <vt:lpstr>Wingdings 2</vt:lpstr>
      <vt:lpstr>Solstice</vt:lpstr>
      <vt:lpstr>HridayaDarpana AI-Powered Cardiovascular Disease Prediction and Prevention Platform</vt:lpstr>
      <vt:lpstr>Problem Statement</vt:lpstr>
      <vt:lpstr>Objectives</vt:lpstr>
      <vt:lpstr>Architecture Diagram</vt:lpstr>
      <vt:lpstr>Class Model</vt:lpstr>
      <vt:lpstr>State Model</vt:lpstr>
      <vt:lpstr>Interaction Model – Use Case Diagram</vt:lpstr>
      <vt:lpstr>Interaction Model – Sequence Diagram</vt:lpstr>
      <vt:lpstr>Interaction Model – Activity Diagram</vt:lpstr>
      <vt:lpstr>Modular Diagram</vt:lpstr>
      <vt:lpstr>Data Flow Diagram</vt:lpstr>
      <vt:lpstr>Project Budget Details</vt:lpstr>
      <vt:lpstr>Budget Components</vt:lpstr>
      <vt:lpstr>Environmental Impact</vt:lpstr>
      <vt:lpstr>Cost Effectiveness</vt:lpstr>
      <vt:lpstr>Progress Status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SAHYADRI</dc:creator>
  <cp:lastModifiedBy>Ashish G</cp:lastModifiedBy>
  <cp:revision>45</cp:revision>
  <cp:lastPrinted>2026-08-15T06:45:45Z</cp:lastPrinted>
  <dcterms:created xsi:type="dcterms:W3CDTF">2006-08-16T00:00:00Z</dcterms:created>
  <dcterms:modified xsi:type="dcterms:W3CDTF">2026-08-18T03:56:44Z</dcterms:modified>
</cp:coreProperties>
</file>