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0" r:id="rId3"/>
    <p:sldId id="290" r:id="rId4"/>
    <p:sldId id="276" r:id="rId5"/>
    <p:sldId id="29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6" r:id="rId14"/>
    <p:sldId id="293" r:id="rId15"/>
    <p:sldId id="292" r:id="rId16"/>
    <p:sldId id="287" r:id="rId17"/>
    <p:sldId id="289" r:id="rId18"/>
    <p:sldId id="275" r:id="rId19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30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21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21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288C3C24-7588-4F88-8CBC-48787B3CCB06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31600"/>
            <a:ext cx="2945659" cy="49821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31600"/>
            <a:ext cx="2945659" cy="498214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866F6364-FC38-44D2-8AF2-67F4A19AF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047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8551104-E7CB-4F4F-9AB2-5E187E357CA3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31599"/>
            <a:ext cx="2945659" cy="49649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53CF50FB-4805-4181-8201-033B4DE1A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15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06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79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49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020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65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372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8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34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75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78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05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56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404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99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17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22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159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1E72-8E7E-432C-81F1-3C56E8E0A19C}" type="datetime1">
              <a:rPr lang="en-US" smtClean="0"/>
              <a:t>8/15/2026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E001E-140B-4FCD-B8A9-813B90823C1E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735AB-4513-43F3-9C06-C63638881703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791E1-1757-4926-B7CC-97148996E64C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884E-826D-4E37-BAA9-FA5C6550F8A2}" type="datetime1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B1A1E-4B6D-4448-8F57-C311C2B4FB06}" type="datetime1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DA9FC-9262-46CA-97ED-E780013DA1ED}" type="datetime1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BF58B-FD74-4DD5-A778-06CBB9AC06EF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9CB38-A8D8-43B0-BE29-7BB9B1B20129}" type="datetime1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B98B-ED11-47DC-8E60-C60B9132757F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7349B-6570-45CF-9835-E1B3D5B7E04A}" type="datetime1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D170EBA-9FB2-4389-9EA7-B02A15CFBCE5}" type="datetime1">
              <a:rPr lang="en-US" smtClean="0"/>
              <a:t>8/15/2026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/>
              <a:t>Dept. of ISE, SCEM, Mangaluru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25681"/>
            <a:ext cx="7543800" cy="61538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1524000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STUDENT_1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STUDENT_2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STUDENT_3			USN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STUDENT_4			USN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9745" y="2764958"/>
            <a:ext cx="55764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under the guidance of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Faculty Name</a:t>
            </a:r>
          </a:p>
          <a:p>
            <a:pPr algn="ctr"/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Professor/Assoc. Prof./Asst.Prof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Department of Information Science &amp; Engineering</a:t>
            </a:r>
          </a:p>
          <a:p>
            <a:pPr algn="ct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</a:p>
          <a:p>
            <a:pPr algn="ctr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</a:p>
          <a:p>
            <a:pPr algn="ctr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SAHYADRI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College of Engineering &amp; Management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An Autonomous Institution</a:t>
            </a:r>
          </a:p>
          <a:p>
            <a:pPr algn="ctr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Mangaluru – 575007</a:t>
            </a:r>
          </a:p>
          <a:p>
            <a:pPr algn="ctr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6A936B-C502-4BFC-96BF-FAE07ECA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59" y="4459259"/>
            <a:ext cx="10969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1"/>
            <a:ext cx="7498080" cy="4419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Precise description of the problem addressed by your project work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2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7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1"/>
            <a:ext cx="7498080" cy="4419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Objectives of the Problem statement taken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3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5549CB6-A4C9-4833-9D1C-DD3D6E1F4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25391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Finalized Architecture diagram depicting how your proposed system will look like.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1F9E18-CCD4-42ED-A5EC-D02BB599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1022258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Class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detailed class model depicting all the relevant classes present in the project work and their relevant relationships. 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class model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F8DDF22-ACB2-427E-BD2A-1FCDEAC9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306755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detailed State model depicting all the relevant states present in the project work and their transitions.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Highlight the relationships between the classes identified and their relevant states during the presentation.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state model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2845DD-6E2C-41D2-BEFD-07CD9516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14204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Interaction Model –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detailed Use Case diagram depicting all the use cases available in your system.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Highlight the relationships between the classes,, states and their interactions during the presentation.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use case diagram during the presentation. 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Be prepared to elaborate the interactions present within each use case listed out  (Refer Software Architecture course)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A297ABC-3261-4FAE-81D1-8852FB103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33724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Interaction Model –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detailed sequence diagram depicting all the interactions occurring in your system.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Highlight the relationships between the classes, states and their interactions during the presentation.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sequence diagram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74CAD3-17D6-445F-908F-BE32359A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428317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Interaction Model – 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detailed Activity diagram depicting all the interactions occurring in your system.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Highlight the relationships between the classes, states and their interactions during the presentation.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activity diagram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2538BF1-D3D6-4751-8414-D5AB5AE1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7441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Modular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Display the major modules and sub-modules in your system and show their relationships.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modular diagram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10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2A553C-7F6B-4FF2-9AF5-90F75CEE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3918266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Display the flow of data in your system (from the beginning till the end)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concepts used for building the Data Flow diagram during the presentation.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11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5C5563-6CC1-4B0B-9386-7A052848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345745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Project Budget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Provide a detailed budget for your project work by considering various components, as listed out in the last slide.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12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9FBA0A5-89E7-4E6D-9A28-0FEE7AB60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4092914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Budget Components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13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76219"/>
              </p:ext>
            </p:extLst>
          </p:nvPr>
        </p:nvGraphicFramePr>
        <p:xfrm>
          <a:off x="1197805" y="848494"/>
          <a:ext cx="7735883" cy="5407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930">
                  <a:extLst>
                    <a:ext uri="{9D8B030D-6E8A-4147-A177-3AD203B41FA5}">
                      <a16:colId xmlns:a16="http://schemas.microsoft.com/office/drawing/2014/main" val="3492701381"/>
                    </a:ext>
                  </a:extLst>
                </a:gridCol>
                <a:gridCol w="2183312">
                  <a:extLst>
                    <a:ext uri="{9D8B030D-6E8A-4147-A177-3AD203B41FA5}">
                      <a16:colId xmlns:a16="http://schemas.microsoft.com/office/drawing/2014/main" val="3390230327"/>
                    </a:ext>
                  </a:extLst>
                </a:gridCol>
                <a:gridCol w="4899641">
                  <a:extLst>
                    <a:ext uri="{9D8B030D-6E8A-4147-A177-3AD203B41FA5}">
                      <a16:colId xmlns:a16="http://schemas.microsoft.com/office/drawing/2014/main" val="1269224892"/>
                    </a:ext>
                  </a:extLst>
                </a:gridCol>
              </a:tblGrid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7854881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Capital</a:t>
                      </a:r>
                      <a:r>
                        <a:rPr lang="en-US" sz="155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Expenditure</a:t>
                      </a:r>
                      <a:endParaRPr lang="en-US" sz="15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incurred towards the equipments or Technical upgrades for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the completion of the project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010662"/>
                  </a:ext>
                </a:extLst>
              </a:tr>
              <a:tr h="756837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Consumables/Non Consumables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incurred towards the procurement of Consumables and Non-Consumables of your project work.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7532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Research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incurred towards the collection of data for supporting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your project work.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46433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Training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incurred towards the attending of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conferences, workshops, consultancies for aiding you in project work.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495563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Professional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incurred towards the legal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advices, consultants, market research firms etc. for helping your project work 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72038"/>
                  </a:ext>
                </a:extLst>
              </a:tr>
              <a:tr h="533390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Travelling</a:t>
                      </a:r>
                      <a:r>
                        <a:rPr lang="en-US" sz="1550" b="1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Expenses</a:t>
                      </a:r>
                      <a:endParaRPr lang="en-US" sz="15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incurred towards the travelling with respect to the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project work.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000804"/>
                  </a:ext>
                </a:extLst>
              </a:tr>
              <a:tr h="756837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Material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</a:t>
                      </a:r>
                      <a:r>
                        <a:rPr lang="en-US" sz="155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incurred towards the procurement of all the major materials required for the project work like software, hardware, unique materials etc. </a:t>
                      </a:r>
                      <a:endParaRPr lang="en-US" sz="155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062516"/>
                  </a:ext>
                </a:extLst>
              </a:tr>
              <a:tr h="467585">
                <a:tc>
                  <a:txBody>
                    <a:bodyPr/>
                    <a:lstStyle/>
                    <a:p>
                      <a:pPr algn="ctr"/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Any other Expense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5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Mention specifically.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227124"/>
                  </a:ext>
                </a:extLst>
              </a:tr>
            </a:tbl>
          </a:graphicData>
        </a:graphic>
      </p:graphicFrame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3C6759-7928-49AA-921A-44EA62FE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394112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90"/>
          </a:xfrm>
        </p:spPr>
        <p:txBody>
          <a:bodyPr>
            <a:normAutofit fontScale="25000" lnSpcReduction="20000"/>
          </a:bodyPr>
          <a:lstStyle/>
          <a:p>
            <a:pPr marL="82296" indent="0">
              <a:buNone/>
            </a:pPr>
            <a:r>
              <a:rPr lang="en-US" sz="7200" b="1" dirty="0">
                <a:latin typeface="Calibri" panose="020F0502020204030204" pitchFamily="34" charset="0"/>
                <a:cs typeface="Calibri" panose="020F0502020204030204" pitchFamily="34" charset="0"/>
              </a:rPr>
              <a:t>Discuss the impact of your project work to the environment with respect to the following (choose the factors that is related to your project) with justifications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Energy-efficient algorithms, reduced processing, optimized architecture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Estimated reduction in CO₂ emissions; energy-efficient deployment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Whether the project works on existing hardware; hardware requirements; e-waste considerations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Estimated paper saved through digitization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Whether cloud/data-centre resources are used efficiently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Reduction in physical visits/travel; estimated distance or fuel saved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Resource optimization achieved by the system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Waste-management functionality and measurable environmental benefit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Reduction in material wastage, energy use or production losses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Water/fertilizer/pesticide savings; smart irrigation</a:t>
            </a:r>
          </a:p>
          <a:p>
            <a:pPr marL="354013" indent="-273050">
              <a:buFont typeface="+mj-lt"/>
              <a:buAutoNum type="arabicPeriod"/>
            </a:pPr>
            <a:r>
              <a:rPr lang="en-IN" sz="6000" dirty="0">
                <a:latin typeface="Calibri" panose="020F0502020204030204" pitchFamily="34" charset="0"/>
                <a:cs typeface="Calibri" panose="020F0502020204030204" pitchFamily="34" charset="0"/>
              </a:rPr>
              <a:t>Fuel, distance, congestion or emissions reduction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Energy savings and intelligent resource management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Route optimization, inventory optimization, reduced wastage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Measurable savings in water, energy, fuel or waste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Energy savings, peak-load reduction and renewable-energy integration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Computational efficiency, server utilization and cloud-resource optimization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Model efficiency, computational requirements and environmental benefit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Resource extraction optimization and material efficiency</a:t>
            </a:r>
          </a:p>
          <a:p>
            <a:pPr marL="354013" indent="-273050">
              <a:buFont typeface="+mj-lt"/>
              <a:buAutoNum type="arabicPeriod"/>
            </a:pPr>
            <a:r>
              <a:rPr lang="en-US" sz="6000" dirty="0">
                <a:latin typeface="Calibri" panose="020F0502020204030204" pitchFamily="34" charset="0"/>
                <a:cs typeface="Calibri" panose="020F0502020204030204" pitchFamily="34" charset="0"/>
              </a:rPr>
              <a:t>Environmental monitoring capability and prevention/mitigation benefits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14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40B5C1-75CF-4E75-A039-36C116AC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35683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Cost Effectiveness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15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004E3-E9B2-43BD-B527-115972D6F4A0}"/>
              </a:ext>
            </a:extLst>
          </p:cNvPr>
          <p:cNvSpPr txBox="1"/>
          <p:nvPr/>
        </p:nvSpPr>
        <p:spPr>
          <a:xfrm>
            <a:off x="1081548" y="762000"/>
            <a:ext cx="7866888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296" indent="0" algn="just">
              <a:lnSpc>
                <a:spcPct val="150000"/>
              </a:lnSpc>
              <a:buNone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Discuss the cost-effectiveness of your project work with respect to the following with justifications and evidences: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Hardware, software, APIs, datasets, cloud services, hosting, etc.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Effective utilization of college resources college/lab computers, servers, software and infrastructure are effectively utilized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is the selected technology appropriate and economical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Open-source/free academic alternatives considered where appropriate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Hosting, storage, database, API and computational costs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Whether the benefits justify the expenditure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Recurring electricity, hosting, subscription, maintenance and support costs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Whether the cost remains reasonable if users/data increase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List of lower-cost alternatives</a:t>
            </a:r>
          </a:p>
          <a:p>
            <a:pPr marL="354013" indent="-2730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Functionality/value that project will provide for the resources consumed 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26F10925-E7A8-457C-9870-CB2DAC3A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603003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Progress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Provide the progress status of your project work – Objective wise. 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milestones and deliverables you obtained till date (as per your Gantt Chart)</a:t>
            </a:r>
          </a:p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List out all the milestones and deliverables you expect further (as per your Gantt Chart)</a:t>
            </a:r>
          </a:p>
          <a:p>
            <a:pPr marL="82296" indent="0" algn="just"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232421C-C90A-46EF-8A9B-F58A9148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3530894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932216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Present in your own words what you have achieved till date.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17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12DCCA7-804F-40CD-8746-998F657A0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216025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46038"/>
            <a:ext cx="7498080" cy="563562"/>
          </a:xfrm>
        </p:spPr>
        <p:txBody>
          <a:bodyPr anchor="ctr">
            <a:no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13610"/>
            <a:ext cx="7498080" cy="5406189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 per IEEE format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Add all the material you referred to prepare the presentation/report.</a:t>
            </a:r>
          </a:p>
          <a:p>
            <a:pPr algn="just"/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95400" y="6545826"/>
            <a:ext cx="990600" cy="302342"/>
          </a:xfrm>
        </p:spPr>
        <p:txBody>
          <a:bodyPr/>
          <a:lstStyle/>
          <a:p>
            <a:pPr algn="l"/>
            <a:fld id="{B2DE001E-140B-4FCD-B8A9-813B90823C1E}" type="datetime1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8/15/2026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3648" y="6553200"/>
            <a:ext cx="457200" cy="304800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/>
              <a:t>18</a:t>
            </a:fld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4F8027E-BE48-4C4C-9C9E-D659648E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5448" y="6553200"/>
            <a:ext cx="2438400" cy="3048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Dept. of ISE, SCEM, Mangaluru</a:t>
            </a:r>
          </a:p>
        </p:txBody>
      </p:sp>
    </p:spTree>
    <p:extLst>
      <p:ext uri="{BB962C8B-B14F-4D97-AF65-F5344CB8AC3E}">
        <p14:creationId xmlns:p14="http://schemas.microsoft.com/office/powerpoint/2010/main" val="3004226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404</TotalTime>
  <Words>1162</Words>
  <Application>Microsoft Office PowerPoint</Application>
  <PresentationFormat>On-screen Show (4:3)</PresentationFormat>
  <Paragraphs>174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Gill Sans MT</vt:lpstr>
      <vt:lpstr>Verdana</vt:lpstr>
      <vt:lpstr>Wingdings 2</vt:lpstr>
      <vt:lpstr>Solstice</vt:lpstr>
      <vt:lpstr>Project Title</vt:lpstr>
      <vt:lpstr>Problem Statement</vt:lpstr>
      <vt:lpstr>Objectives </vt:lpstr>
      <vt:lpstr>Architecture Diagram</vt:lpstr>
      <vt:lpstr>Class Model</vt:lpstr>
      <vt:lpstr>State Model</vt:lpstr>
      <vt:lpstr>Interaction Model – Use Case Diagram</vt:lpstr>
      <vt:lpstr>Interaction Model – Sequence Diagram</vt:lpstr>
      <vt:lpstr>Interaction Model – Activity Diagram</vt:lpstr>
      <vt:lpstr>Modular Diagram</vt:lpstr>
      <vt:lpstr>Data Flow Diagram</vt:lpstr>
      <vt:lpstr>Project Budget Details</vt:lpstr>
      <vt:lpstr>Budget Components</vt:lpstr>
      <vt:lpstr>Environmental Impact</vt:lpstr>
      <vt:lpstr>Cost Effectiveness</vt:lpstr>
      <vt:lpstr>Progress Status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SAHYADRI</dc:creator>
  <cp:lastModifiedBy>SAHYADRI</cp:lastModifiedBy>
  <cp:revision>45</cp:revision>
  <cp:lastPrinted>2026-08-15T06:45:45Z</cp:lastPrinted>
  <dcterms:created xsi:type="dcterms:W3CDTF">2006-08-16T00:00:00Z</dcterms:created>
  <dcterms:modified xsi:type="dcterms:W3CDTF">2026-08-15T09:09:03Z</dcterms:modified>
</cp:coreProperties>
</file>